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7" r:id="rId5"/>
    <p:sldId id="268" r:id="rId6"/>
    <p:sldId id="267" r:id="rId7"/>
    <p:sldId id="269" r:id="rId8"/>
    <p:sldId id="270" r:id="rId9"/>
    <p:sldId id="259" r:id="rId10"/>
    <p:sldId id="261" r:id="rId11"/>
    <p:sldId id="262" r:id="rId12"/>
    <p:sldId id="272" r:id="rId13"/>
    <p:sldId id="273" r:id="rId14"/>
    <p:sldId id="274" r:id="rId15"/>
    <p:sldId id="275" r:id="rId16"/>
    <p:sldId id="276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97" autoAdjust="0"/>
    <p:restoredTop sz="94660"/>
  </p:normalViewPr>
  <p:slideViewPr>
    <p:cSldViewPr>
      <p:cViewPr varScale="1">
        <p:scale>
          <a:sx n="110" d="100"/>
          <a:sy n="110" d="100"/>
        </p:scale>
        <p:origin x="184" y="16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7942A0-B7D2-4B14-8FEA-55FC702F5BE7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D84D8B6-AB32-4491-B5D2-EFE3D7668B88}" type="pres">
      <dgm:prSet presAssocID="{CD7942A0-B7D2-4B14-8FEA-55FC702F5BE7}" presName="outerComposite" presStyleCnt="0">
        <dgm:presLayoutVars>
          <dgm:chMax val="5"/>
          <dgm:dir/>
          <dgm:resizeHandles val="exact"/>
        </dgm:presLayoutVars>
      </dgm:prSet>
      <dgm:spPr/>
    </dgm:pt>
    <dgm:pt modelId="{3E0E8213-E460-4EB7-9A92-C2B1CC553F0D}" type="pres">
      <dgm:prSet presAssocID="{CD7942A0-B7D2-4B14-8FEA-55FC702F5BE7}" presName="dummyMaxCanvas" presStyleCnt="0">
        <dgm:presLayoutVars/>
      </dgm:prSet>
      <dgm:spPr/>
    </dgm:pt>
  </dgm:ptLst>
  <dgm:cxnLst>
    <dgm:cxn modelId="{C2D0E194-BD14-4AD2-9E3A-CE984C34B6CD}" type="presOf" srcId="{CD7942A0-B7D2-4B14-8FEA-55FC702F5BE7}" destId="{1D84D8B6-AB32-4491-B5D2-EFE3D7668B88}" srcOrd="0" destOrd="0" presId="urn:microsoft.com/office/officeart/2005/8/layout/vProcess5"/>
    <dgm:cxn modelId="{768DB908-A4BF-48A6-A740-5DD0CBAFBB11}" type="presParOf" srcId="{1D84D8B6-AB32-4491-B5D2-EFE3D7668B88}" destId="{3E0E8213-E460-4EB7-9A92-C2B1CC553F0D}" srcOrd="0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11/21/25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11/21/25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11/21/25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11/21/25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11/21/25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11/21/25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11/21/25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11/21/25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11/21/25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11/21/25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11/21/25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11/21/25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11/21/25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11/21/25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fKNtbmQx4I" TargetMode="External"/><Relationship Id="rId2" Type="http://schemas.openxmlformats.org/officeDocument/2006/relationships/hyperlink" Target="https://github.com/VCCT-PROG6212-2025-G1/ST10434066-CMCS-POE.gi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PROG6212 Summative Assignment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Fay-yaad Ahmed Parker </a:t>
            </a:r>
          </a:p>
          <a:p>
            <a:pPr algn="ctr"/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ST10434066</a:t>
            </a:r>
          </a:p>
          <a:p>
            <a:pPr algn="ctr"/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Group 1 </a:t>
            </a:r>
          </a:p>
          <a:p>
            <a:pPr algn="ctr"/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BCAD2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US"/>
              <a:t>Contract Monthly Claim System </a:t>
            </a:r>
            <a:br>
              <a:rPr lang="en-US" dirty="0"/>
            </a:br>
            <a:endParaRPr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/>
          <a:p>
            <a:r>
              <a:rPr lang="en-US" dirty="0"/>
              <a:t>Tools used to develop this system</a:t>
            </a:r>
          </a:p>
          <a:p>
            <a:r>
              <a:rPr lang="en-US" dirty="0"/>
              <a:t>ASP.NET Core MVC</a:t>
            </a:r>
          </a:p>
          <a:p>
            <a:r>
              <a:rPr lang="en-US" dirty="0" err="1"/>
              <a:t>InMemory</a:t>
            </a:r>
            <a:r>
              <a:rPr lang="en-US" dirty="0"/>
              <a:t> DB</a:t>
            </a:r>
          </a:p>
          <a:p>
            <a:r>
              <a:rPr lang="en-US" dirty="0"/>
              <a:t>Sessions </a:t>
            </a:r>
          </a:p>
          <a:p>
            <a:r>
              <a:rPr lang="en-US" dirty="0"/>
              <a:t>Micro APIs</a:t>
            </a:r>
          </a:p>
          <a:p>
            <a:endParaRPr lang="en-US" dirty="0"/>
          </a:p>
        </p:txBody>
      </p:sp>
      <p:pic>
        <p:nvPicPr>
          <p:cNvPr id="3" name="Picture 2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3B2B033D-0426-3849-59A3-5CDBD90DD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4" r="26714"/>
          <a:stretch>
            <a:fillRect/>
          </a:stretch>
        </p:blipFill>
        <p:spPr>
          <a:xfrm>
            <a:off x="6500707" y="1706880"/>
            <a:ext cx="5078677" cy="44653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3AC47-3D64-86DE-D1E5-A7F013324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contract Monthly Claim System streamlines and makes the process of lecturer claims much more efficient.</a:t>
            </a:r>
          </a:p>
          <a:p>
            <a:r>
              <a:rPr lang="en-US" dirty="0"/>
              <a:t>How it works:</a:t>
            </a:r>
          </a:p>
          <a:p>
            <a:r>
              <a:rPr lang="en-US" dirty="0"/>
              <a:t>Lecturers submit their monthly claims</a:t>
            </a:r>
          </a:p>
          <a:p>
            <a:r>
              <a:rPr lang="en-US" dirty="0"/>
              <a:t>Coordinators verify them</a:t>
            </a:r>
          </a:p>
          <a:p>
            <a:r>
              <a:rPr lang="en-US" dirty="0"/>
              <a:t>Managers approve them </a:t>
            </a:r>
          </a:p>
          <a:p>
            <a:r>
              <a:rPr lang="en-US" dirty="0"/>
              <a:t>HR finalizes the payment and generates a report.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Lecturer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9844081" cy="4465320"/>
          </a:xfrm>
        </p:spPr>
        <p:txBody>
          <a:bodyPr>
            <a:normAutofit fontScale="32500" lnSpcReduction="20000"/>
          </a:bodyPr>
          <a:lstStyle/>
          <a:p>
            <a:r>
              <a:rPr lang="en-US" sz="5600" dirty="0"/>
              <a:t>Score 75%</a:t>
            </a:r>
          </a:p>
          <a:p>
            <a:r>
              <a:rPr lang="en-US" sz="5600" dirty="0"/>
              <a:t>Feedback – ‘</a:t>
            </a:r>
            <a:r>
              <a:rPr lang="en-ZA" sz="5600" dirty="0"/>
              <a:t>Great effort. Well done’</a:t>
            </a:r>
          </a:p>
          <a:p>
            <a:r>
              <a:rPr lang="en-ZA" sz="5600" dirty="0"/>
              <a:t>Issues fixed for summative POE:</a:t>
            </a:r>
          </a:p>
          <a:p>
            <a:r>
              <a:rPr lang="en-ZA" sz="5600" dirty="0"/>
              <a:t>The UI looked rough, so I cleaned up the layout and navigation</a:t>
            </a:r>
          </a:p>
          <a:p>
            <a:r>
              <a:rPr lang="en-ZA" sz="5600" dirty="0"/>
              <a:t>Coordinator and Manager shared one screen, each have their own views now</a:t>
            </a:r>
          </a:p>
          <a:p>
            <a:r>
              <a:rPr lang="en-ZA" sz="5600" dirty="0"/>
              <a:t>Claims were approved too early. Added proper verification and flow.</a:t>
            </a:r>
          </a:p>
          <a:p>
            <a:r>
              <a:rPr lang="en-ZA" sz="5600" dirty="0"/>
              <a:t>Large files caused crashes, added file validation of sizes</a:t>
            </a:r>
          </a:p>
          <a:p>
            <a:r>
              <a:rPr lang="en-ZA" sz="5600" dirty="0"/>
              <a:t>Hourly rate was editable, now hourly rate is pulled from the DB, either by seeded lecturers or added by HR.</a:t>
            </a:r>
          </a:p>
          <a:p>
            <a:r>
              <a:rPr lang="en-ZA" sz="5600" dirty="0"/>
              <a:t>Commit messages were vague. I have now made better and more meaningful commit messages.</a:t>
            </a:r>
            <a:br>
              <a:rPr lang="en-ZA" sz="2000" dirty="0"/>
            </a:br>
            <a:br>
              <a:rPr lang="en-ZA" dirty="0"/>
            </a:br>
            <a:br>
              <a:rPr lang="en-Z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ZA" sz="2000" dirty="0"/>
              <a:t>ASP.NET Core MVC for structure </a:t>
            </a:r>
          </a:p>
          <a:p>
            <a:r>
              <a:rPr lang="en-ZA" sz="2000" dirty="0"/>
              <a:t>Entity Framework </a:t>
            </a:r>
            <a:r>
              <a:rPr lang="en-ZA" sz="2000" dirty="0" err="1"/>
              <a:t>InMemory</a:t>
            </a:r>
            <a:r>
              <a:rPr lang="en-ZA" sz="2000" dirty="0"/>
              <a:t>  for in memory storage</a:t>
            </a:r>
          </a:p>
          <a:p>
            <a:r>
              <a:rPr lang="en-ZA" sz="2000" dirty="0"/>
              <a:t> Sessions for login and role management</a:t>
            </a:r>
          </a:p>
          <a:p>
            <a:r>
              <a:rPr lang="en-ZA" sz="2000" dirty="0"/>
              <a:t>Micro APIs for automation</a:t>
            </a:r>
          </a:p>
          <a:p>
            <a:r>
              <a:rPr lang="en-ZA" sz="2000" dirty="0"/>
              <a:t>LINQ to generate HR reports</a:t>
            </a:r>
          </a:p>
          <a:p>
            <a:r>
              <a:rPr lang="en-ZA" sz="2000" dirty="0"/>
              <a:t>Bootstrap 5 for styling</a:t>
            </a:r>
            <a:br>
              <a:rPr lang="en-ZA" sz="2000" dirty="0"/>
            </a:br>
            <a:endParaRPr lang="en-ZA" sz="2000" dirty="0"/>
          </a:p>
          <a:p>
            <a:r>
              <a:rPr lang="en-ZA" sz="2000" dirty="0"/>
              <a:t>The stack keeps the system simple, easy to maintain and easy for demonstration purposes.</a:t>
            </a:r>
          </a:p>
        </p:txBody>
      </p:sp>
      <p:graphicFrame>
        <p:nvGraphicFramePr>
          <p:cNvPr id="5" name="Content Placeholder 4" descr="Staggered process showing 3 tasks arranged one below the other and two downward pointing arrows are used to indicate progression from first task to second task and second task to third task.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39376428"/>
              </p:ext>
            </p:extLst>
          </p:nvPr>
        </p:nvGraphicFramePr>
        <p:xfrm>
          <a:off x="6500813" y="1706563"/>
          <a:ext cx="5078412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43BDE5-F419-82F8-A149-F7FCDDC5A0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560" y="1340768"/>
            <a:ext cx="5557491" cy="38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pPr algn="ctr"/>
            <a:r>
              <a:rPr lang="en-US" sz="44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Login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sz="half" idx="2"/>
          </p:nvPr>
        </p:nvSpPr>
        <p:spPr>
          <a:xfrm>
            <a:off x="1218883" y="1844824"/>
            <a:ext cx="5078677" cy="345440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ZA" sz="1600" dirty="0"/>
              <a:t>Users log in with a username and password.</a:t>
            </a:r>
          </a:p>
          <a:p>
            <a:endParaRPr lang="en-ZA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ZA" sz="1600" dirty="0"/>
              <a:t>Sessions store the users role and id on successful login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ZA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ZA" sz="1600" dirty="0"/>
              <a:t>This separates users and their roles, keeping everything clean and preventing unauthorised data access.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ZA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ZA" sz="1600" dirty="0"/>
              <a:t>Passwords are hashed before being stored</a:t>
            </a:r>
          </a:p>
          <a:p>
            <a:endParaRPr lang="en-ZA" sz="1600" dirty="0"/>
          </a:p>
          <a:p>
            <a:endParaRPr lang="en-US" sz="1600" dirty="0"/>
          </a:p>
        </p:txBody>
      </p:sp>
      <p:pic>
        <p:nvPicPr>
          <p:cNvPr id="3" name="Picture 2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B67CF8AB-B1B0-B777-89F0-148FBB8D2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50" r="19598" b="-1"/>
          <a:stretch>
            <a:fillRect/>
          </a:stretch>
        </p:blipFill>
        <p:spPr>
          <a:xfrm>
            <a:off x="6670476" y="1701800"/>
            <a:ext cx="5078677" cy="345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US"/>
              <a:t>Lecturer Role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/>
          <a:p>
            <a:r>
              <a:rPr lang="en-ZA" sz="1300" dirty="0"/>
              <a:t>The role of a lecturer can :</a:t>
            </a:r>
          </a:p>
          <a:p>
            <a:r>
              <a:rPr lang="en-ZA" sz="1300" dirty="0"/>
              <a:t>Submit a claim </a:t>
            </a:r>
          </a:p>
          <a:p>
            <a:r>
              <a:rPr lang="en-ZA" sz="1300" dirty="0"/>
              <a:t>View all their past submissions </a:t>
            </a:r>
          </a:p>
          <a:p>
            <a:r>
              <a:rPr lang="en-ZA" sz="1300" dirty="0"/>
              <a:t>Upload supporting documents</a:t>
            </a:r>
          </a:p>
          <a:p>
            <a:r>
              <a:rPr lang="en-ZA" sz="1300" dirty="0"/>
              <a:t>View their claim status </a:t>
            </a:r>
          </a:p>
          <a:p>
            <a:endParaRPr lang="en-ZA" sz="1300" dirty="0"/>
          </a:p>
          <a:p>
            <a:r>
              <a:rPr lang="en-ZA" sz="1300" dirty="0"/>
              <a:t>The lecturer hourly rate is pulled from the database based off of seeding or HR implementation in the session.</a:t>
            </a:r>
          </a:p>
          <a:p>
            <a:r>
              <a:rPr lang="en-ZA" sz="1300" dirty="0"/>
              <a:t>The calculation is based off of hours X rate.</a:t>
            </a:r>
          </a:p>
          <a:p>
            <a:r>
              <a:rPr lang="en-ZA" sz="1300" dirty="0"/>
              <a:t>The lecturer role is the only role that can submit a claim</a:t>
            </a:r>
          </a:p>
          <a:p>
            <a:r>
              <a:rPr lang="en-ZA" sz="1300" dirty="0"/>
              <a:t>Lecturers cannot access HR screens or attend to claims and change their status.</a:t>
            </a:r>
            <a:br>
              <a:rPr lang="en-ZA" sz="1300" dirty="0"/>
            </a:br>
            <a:endParaRPr lang="en-ZA" sz="1300" dirty="0"/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A4A8C4-ED68-00DA-6F0F-E44C045CF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090" y="886618"/>
            <a:ext cx="6094413" cy="35265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Coordinators Role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1CE1E-811A-AE25-3C61-C4B24EE40196}"/>
              </a:ext>
            </a:extLst>
          </p:cNvPr>
          <p:cNvSpPr txBox="1"/>
          <p:nvPr/>
        </p:nvSpPr>
        <p:spPr>
          <a:xfrm>
            <a:off x="1218883" y="1706880"/>
            <a:ext cx="5078677" cy="446532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marL="304747" indent="-304747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en-US" sz="2800"/>
              <a:t>Coordinators  can only see all pending claims </a:t>
            </a:r>
          </a:p>
          <a:p>
            <a:pPr marL="304747" indent="-304747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en-US" sz="2800"/>
              <a:t>They can verify the claim but not approve it</a:t>
            </a:r>
          </a:p>
          <a:p>
            <a:pPr marL="304747" indent="-304747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en-US" sz="2800"/>
              <a:t>This ensures the workflow stays correct before manager review.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DAB801-EAB9-9309-3B54-D858B6294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534" y="1779706"/>
            <a:ext cx="5904656" cy="21598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B3C8-EB86-CA2F-6598-FA022B2BA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Manager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09887-887B-5641-6187-2FCCEC7B4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5163561" cy="4462272"/>
          </a:xfrm>
        </p:spPr>
        <p:txBody>
          <a:bodyPr/>
          <a:lstStyle/>
          <a:p>
            <a:r>
              <a:rPr lang="en-US" dirty="0"/>
              <a:t>The manager role is able to only see verified claims. Once verified from the coordinator, the manager can then approve the claim.</a:t>
            </a:r>
          </a:p>
          <a:p>
            <a:r>
              <a:rPr lang="en-US" dirty="0"/>
              <a:t>Approved claims move to the HR for finalization and reporting.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D4C82F-02D9-4278-F1A0-944B1BF1D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212" y="4636266"/>
            <a:ext cx="7772400" cy="196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71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5856F-CE9C-0CB8-351C-5E7277BB6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176" y="260648"/>
            <a:ext cx="8735325" cy="1044600"/>
          </a:xfrm>
        </p:spPr>
        <p:txBody>
          <a:bodyPr/>
          <a:lstStyle/>
          <a:p>
            <a:pPr algn="ctr"/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HR (The Super User)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85F62-28E7-5363-E140-F1973AE4B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924" y="1916832"/>
            <a:ext cx="4354383" cy="352839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This is the highest role level, the HR can: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Can create new users for any role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Edit passwords and hourly rate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They can generate monthly or yearly reports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HR essentially controls the entire operation of the system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141897-FE47-9DE9-1C73-B6F38FC1E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355" y="1501370"/>
            <a:ext cx="6598469" cy="1967422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11590E-3564-0B36-16F9-E4415B35D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706" y="3664914"/>
            <a:ext cx="6598470" cy="269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35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8A4A7-6CBA-FF10-ABFA-E036F6A72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176" y="584201"/>
            <a:ext cx="8735325" cy="900584"/>
          </a:xfrm>
        </p:spPr>
        <p:txBody>
          <a:bodyPr/>
          <a:lstStyle/>
          <a:p>
            <a:pPr algn="ctr"/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Reports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AF9FF-16FB-7ABB-7796-1177B9D23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749" y="4365104"/>
            <a:ext cx="8735325" cy="1752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only user role which can generate a </a:t>
            </a:r>
            <a:r>
              <a:rPr lang="en-US" dirty="0" err="1"/>
              <a:t>linq</a:t>
            </a:r>
            <a:r>
              <a:rPr lang="en-US" dirty="0"/>
              <a:t> report is the </a:t>
            </a:r>
            <a:r>
              <a:rPr lang="en-US" dirty="0" err="1"/>
              <a:t>hr</a:t>
            </a:r>
            <a:r>
              <a:rPr lang="en-US" dirty="0"/>
              <a:t> role.</a:t>
            </a:r>
          </a:p>
          <a:p>
            <a:r>
              <a:rPr lang="en-US" dirty="0"/>
              <a:t>The report can be broken down for any month or year.</a:t>
            </a:r>
          </a:p>
          <a:p>
            <a:r>
              <a:rPr lang="en-US" dirty="0"/>
              <a:t>The report shows the lecturer name, total hours, total claim amount .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C8D716-B955-BA71-D13D-D87CDF24F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211" y="1548431"/>
            <a:ext cx="7772400" cy="269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98D0C-AB5F-4265-01B0-48E87D0F3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4216" y="188640"/>
            <a:ext cx="8735325" cy="1224136"/>
          </a:xfrm>
        </p:spPr>
        <p:txBody>
          <a:bodyPr/>
          <a:lstStyle/>
          <a:p>
            <a:pPr algn="ctr"/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Sessions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DA4E9F-2A97-1B82-3AD0-B9363D328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6741" y="1769318"/>
            <a:ext cx="8735325" cy="2613000"/>
          </a:xfrm>
        </p:spPr>
        <p:txBody>
          <a:bodyPr>
            <a:normAutofit fontScale="40000" lnSpcReduction="20000"/>
          </a:bodyPr>
          <a:lstStyle/>
          <a:p>
            <a:endParaRPr lang="en-ZA" dirty="0"/>
          </a:p>
          <a:p>
            <a:r>
              <a:rPr lang="en-ZA" dirty="0"/>
              <a:t>What are sessions?</a:t>
            </a:r>
          </a:p>
          <a:p>
            <a:r>
              <a:rPr lang="en-ZA" dirty="0"/>
              <a:t>Sessions store bits of information after login. Such as the user id and </a:t>
            </a:r>
            <a:r>
              <a:rPr lang="en-ZA" dirty="0" err="1"/>
              <a:t>fullname</a:t>
            </a:r>
            <a:r>
              <a:rPr lang="en-ZA" dirty="0"/>
              <a:t> and especially the role.</a:t>
            </a:r>
          </a:p>
          <a:p>
            <a:r>
              <a:rPr lang="en-ZA" dirty="0"/>
              <a:t>This is important so the program knows who is logged in while we use the system.</a:t>
            </a:r>
          </a:p>
          <a:p>
            <a:endParaRPr lang="en-ZA" dirty="0"/>
          </a:p>
          <a:p>
            <a:r>
              <a:rPr lang="en-ZA" dirty="0"/>
              <a:t>Why sessions?</a:t>
            </a:r>
          </a:p>
          <a:p>
            <a:r>
              <a:rPr lang="en-ZA" dirty="0"/>
              <a:t>It is simple to use and extremely efficient to implement. Is it not heavy so build and run time do not time out.</a:t>
            </a:r>
          </a:p>
          <a:p>
            <a:r>
              <a:rPr lang="en-ZA" dirty="0"/>
              <a:t>It is an easy way to control access for every role. Works extremely well for this system.</a:t>
            </a:r>
          </a:p>
          <a:p>
            <a:endParaRPr lang="en-ZA" dirty="0"/>
          </a:p>
          <a:p>
            <a:r>
              <a:rPr lang="en-ZA" dirty="0"/>
              <a:t>How it helps.</a:t>
            </a:r>
          </a:p>
          <a:p>
            <a:r>
              <a:rPr lang="en-ZA" dirty="0"/>
              <a:t>The sessions ensures that all user roles are only allowed to access their relevant pages and able to do only allowed actions. Else they are redirected to a denied access page.</a:t>
            </a:r>
          </a:p>
          <a:p>
            <a:endParaRPr lang="en-ZA" dirty="0"/>
          </a:p>
          <a:p>
            <a:br>
              <a:rPr lang="en-ZA" dirty="0"/>
            </a:br>
            <a:endParaRPr lang="en-ZA" dirty="0"/>
          </a:p>
          <a:p>
            <a:endParaRPr lang="en-US" dirty="0"/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EEA994D4-F485-DFAF-9438-842AD387B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759" y="4005064"/>
            <a:ext cx="7772400" cy="169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14855"/>
      </p:ext>
    </p:extLst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8E335-7A56-FBD0-6A46-350E6C09C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176" y="584201"/>
            <a:ext cx="8735325" cy="75656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EE758-ADA5-34AC-83A1-3EFCF1218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176" y="1628800"/>
            <a:ext cx="8735325" cy="3045048"/>
          </a:xfrm>
        </p:spPr>
        <p:txBody>
          <a:bodyPr>
            <a:normAutofit fontScale="25000" lnSpcReduction="20000"/>
          </a:bodyPr>
          <a:lstStyle/>
          <a:p>
            <a:r>
              <a:rPr lang="en-US" sz="4800" dirty="0"/>
              <a:t>CMCS is now a fully working and operating claims system, ready for </a:t>
            </a:r>
            <a:r>
              <a:rPr lang="en-US" sz="4800" dirty="0" err="1"/>
              <a:t>poe</a:t>
            </a:r>
            <a:r>
              <a:rPr lang="en-US" sz="4800" dirty="0"/>
              <a:t> submission.</a:t>
            </a:r>
          </a:p>
          <a:p>
            <a:r>
              <a:rPr lang="en-US" sz="4800" dirty="0"/>
              <a:t>It follows the correct workflow and role based user actions, validates data properly and secures file upload.</a:t>
            </a:r>
          </a:p>
          <a:p>
            <a:r>
              <a:rPr lang="en-US" sz="4800" dirty="0"/>
              <a:t>The system is simple and provides all the functionality required for part 3 of the submission.</a:t>
            </a:r>
          </a:p>
          <a:p>
            <a:endParaRPr lang="en-US" sz="4800" dirty="0"/>
          </a:p>
          <a:p>
            <a:r>
              <a:rPr lang="en-US" sz="4800" dirty="0"/>
              <a:t>For more information on the actual code, refer to the </a:t>
            </a:r>
            <a:r>
              <a:rPr lang="en-US" sz="4800" dirty="0" err="1"/>
              <a:t>github</a:t>
            </a:r>
            <a:r>
              <a:rPr lang="en-US" sz="4800" dirty="0"/>
              <a:t> link and for a video demonstration, refer to the </a:t>
            </a:r>
            <a:r>
              <a:rPr lang="en-US" sz="4800" dirty="0" err="1"/>
              <a:t>youtube</a:t>
            </a:r>
            <a:r>
              <a:rPr lang="en-US" sz="4800" dirty="0"/>
              <a:t> link.</a:t>
            </a:r>
          </a:p>
          <a:p>
            <a:endParaRPr lang="en-US" sz="4800" dirty="0"/>
          </a:p>
          <a:p>
            <a:endParaRPr lang="en-US" sz="4800" dirty="0"/>
          </a:p>
          <a:p>
            <a:r>
              <a:rPr lang="en-US" sz="4800" dirty="0" err="1"/>
              <a:t>Github</a:t>
            </a:r>
            <a:r>
              <a:rPr lang="en-US" sz="4800" dirty="0"/>
              <a:t> Link:</a:t>
            </a:r>
          </a:p>
          <a:p>
            <a:endParaRPr lang="en-US" sz="4800" dirty="0"/>
          </a:p>
          <a:p>
            <a:endParaRPr lang="en-US" sz="4800" dirty="0"/>
          </a:p>
          <a:p>
            <a:r>
              <a:rPr lang="en-US" sz="4800" dirty="0">
                <a:hlinkClick r:id="rId2"/>
              </a:rPr>
              <a:t>https://github.com/VCCT-PROG6212-2025-G1/ST10434066-CMCS-POE.git</a:t>
            </a:r>
            <a:endParaRPr lang="en-US" sz="4800" dirty="0"/>
          </a:p>
          <a:p>
            <a:endParaRPr lang="en-US" sz="4800" dirty="0"/>
          </a:p>
          <a:p>
            <a:endParaRPr lang="en-US" sz="4800" dirty="0"/>
          </a:p>
          <a:p>
            <a:endParaRPr lang="en-US" sz="4800" dirty="0"/>
          </a:p>
          <a:p>
            <a:r>
              <a:rPr lang="en-US" sz="4800" dirty="0" err="1"/>
              <a:t>Youtube</a:t>
            </a:r>
            <a:r>
              <a:rPr lang="en-US" sz="4800" dirty="0"/>
              <a:t> Link:</a:t>
            </a:r>
          </a:p>
          <a:p>
            <a:endParaRPr lang="en-US" sz="4800" dirty="0"/>
          </a:p>
          <a:p>
            <a:r>
              <a:rPr lang="en-US" sz="4800" dirty="0">
                <a:hlinkClick r:id="rId3"/>
              </a:rPr>
              <a:t>https://youtu.be/vfKNtbmQx4I</a:t>
            </a:r>
            <a:endParaRPr lang="en-US" sz="4800" dirty="0"/>
          </a:p>
          <a:p>
            <a:endParaRPr lang="en-US" sz="4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30D1C-61B6-8619-369A-1AE8410E5C48}"/>
              </a:ext>
            </a:extLst>
          </p:cNvPr>
          <p:cNvSpPr txBox="1"/>
          <p:nvPr/>
        </p:nvSpPr>
        <p:spPr>
          <a:xfrm>
            <a:off x="3616574" y="5224630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996201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16x9</Template>
  <TotalTime>191</TotalTime>
  <Words>745</Words>
  <Application>Microsoft Macintosh PowerPoint</Application>
  <PresentationFormat>Custom</PresentationFormat>
  <Paragraphs>108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ADLaM Display</vt:lpstr>
      <vt:lpstr>Arial</vt:lpstr>
      <vt:lpstr>Calibri</vt:lpstr>
      <vt:lpstr>Tech 16x9</vt:lpstr>
      <vt:lpstr>PROG6212 Summative Assignment</vt:lpstr>
      <vt:lpstr>Contract Monthly Claim System  </vt:lpstr>
      <vt:lpstr>Introduction</vt:lpstr>
      <vt:lpstr>Lecturer Feedback</vt:lpstr>
      <vt:lpstr>Technology Stack</vt:lpstr>
      <vt:lpstr>Login</vt:lpstr>
      <vt:lpstr>Lecturer Role</vt:lpstr>
      <vt:lpstr>Coordinators Role</vt:lpstr>
      <vt:lpstr>Manager Role</vt:lpstr>
      <vt:lpstr>HR (The Super User)</vt:lpstr>
      <vt:lpstr>Reports</vt:lpstr>
      <vt:lpstr>Sessions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Fay-yaad Ahmed Parker</dc:creator>
  <cp:lastModifiedBy>Fay-yaad Ahmed Parker</cp:lastModifiedBy>
  <cp:revision>3</cp:revision>
  <dcterms:created xsi:type="dcterms:W3CDTF">2025-11-21T18:05:11Z</dcterms:created>
  <dcterms:modified xsi:type="dcterms:W3CDTF">2025-11-21T21:25:21Z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